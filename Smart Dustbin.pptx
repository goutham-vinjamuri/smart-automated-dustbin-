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87" r:id="rId1"/>
  </p:sldMasterIdLst>
  <p:sldIdLst>
    <p:sldId id="256" r:id="rId2"/>
    <p:sldId id="258" r:id="rId3"/>
    <p:sldId id="259" r:id="rId4"/>
    <p:sldId id="260" r:id="rId5"/>
    <p:sldId id="261" r:id="rId6"/>
    <p:sldId id="262" r:id="rId7"/>
    <p:sldId id="263" r:id="rId8"/>
    <p:sldId id="267" r:id="rId9"/>
    <p:sldId id="268" r:id="rId10"/>
    <p:sldId id="269" r:id="rId11"/>
    <p:sldId id="264" r:id="rId12"/>
    <p:sldId id="265" r:id="rId13"/>
    <p:sldId id="270" r:id="rId14"/>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7" d="100"/>
          <a:sy n="97" d="100"/>
        </p:scale>
        <p:origin x="115"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9871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0093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6928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90738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18514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5283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9962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0368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92270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57608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89918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34671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41307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50628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38099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3872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569458" y="288797"/>
            <a:ext cx="1235075" cy="436880"/>
          </a:xfrm>
          <a:prstGeom prst="rect">
            <a:avLst/>
          </a:prstGeom>
        </p:spPr>
        <p:txBody>
          <a:bodyPr wrap="square" lIns="0" tIns="0" rIns="0" bIns="0">
            <a:spAutoFit/>
          </a:bodyPr>
          <a:lstStyle>
            <a:lvl1pPr>
              <a:defRPr sz="2700" b="1" i="0">
                <a:solidFill>
                  <a:srgbClr val="404040"/>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77714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6/16/2026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667692238"/>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67200" y="52599"/>
            <a:ext cx="3530600" cy="3498058"/>
            <a:chOff x="4337050" y="0"/>
            <a:chExt cx="3530600" cy="3498058"/>
          </a:xfrm>
        </p:grpSpPr>
        <p:sp>
          <p:nvSpPr>
            <p:cNvPr id="3" name="object 3"/>
            <p:cNvSpPr/>
            <p:nvPr/>
          </p:nvSpPr>
          <p:spPr>
            <a:xfrm>
              <a:off x="4794250" y="0"/>
              <a:ext cx="2616200" cy="2000250"/>
            </a:xfrm>
            <a:custGeom>
              <a:avLst/>
              <a:gdLst/>
              <a:ahLst/>
              <a:cxnLst/>
              <a:rect l="l" t="t" r="r" b="b"/>
              <a:pathLst>
                <a:path w="2616200" h="2000250">
                  <a:moveTo>
                    <a:pt x="0" y="698500"/>
                  </a:moveTo>
                  <a:lnTo>
                    <a:pt x="701928" y="0"/>
                  </a:lnTo>
                </a:path>
                <a:path w="2616200" h="2000250">
                  <a:moveTo>
                    <a:pt x="1914271" y="0"/>
                  </a:moveTo>
                  <a:lnTo>
                    <a:pt x="2616200" y="698500"/>
                  </a:lnTo>
                  <a:lnTo>
                    <a:pt x="1308100" y="2000250"/>
                  </a:lnTo>
                  <a:lnTo>
                    <a:pt x="0" y="698500"/>
                  </a:lnTo>
                </a:path>
              </a:pathLst>
            </a:custGeom>
            <a:ln w="12700">
              <a:solidFill>
                <a:srgbClr val="11ADC6"/>
              </a:solidFill>
            </a:ln>
          </p:spPr>
          <p:txBody>
            <a:bodyPr wrap="square" lIns="0" tIns="0" rIns="0" bIns="0" rtlCol="0"/>
            <a:lstStyle/>
            <a:p>
              <a:endParaRPr/>
            </a:p>
          </p:txBody>
        </p:sp>
        <p:sp>
          <p:nvSpPr>
            <p:cNvPr id="4" name="object 4"/>
            <p:cNvSpPr/>
            <p:nvPr/>
          </p:nvSpPr>
          <p:spPr>
            <a:xfrm>
              <a:off x="4337050" y="114300"/>
              <a:ext cx="3530600" cy="1771650"/>
            </a:xfrm>
            <a:custGeom>
              <a:avLst/>
              <a:gdLst/>
              <a:ahLst/>
              <a:cxnLst/>
              <a:rect l="l" t="t" r="r" b="b"/>
              <a:pathLst>
                <a:path w="3530600" h="1771650">
                  <a:moveTo>
                    <a:pt x="0" y="6350"/>
                  </a:moveTo>
                  <a:lnTo>
                    <a:pt x="6350" y="0"/>
                  </a:lnTo>
                </a:path>
                <a:path w="3530600" h="1771650">
                  <a:moveTo>
                    <a:pt x="3524250" y="0"/>
                  </a:moveTo>
                  <a:lnTo>
                    <a:pt x="3530600" y="6350"/>
                  </a:lnTo>
                  <a:lnTo>
                    <a:pt x="1765300" y="1771650"/>
                  </a:lnTo>
                  <a:lnTo>
                    <a:pt x="0" y="6350"/>
                  </a:lnTo>
                </a:path>
              </a:pathLst>
            </a:custGeom>
            <a:ln w="12700">
              <a:solidFill>
                <a:srgbClr val="F59F25"/>
              </a:solidFill>
            </a:ln>
          </p:spPr>
          <p:txBody>
            <a:bodyPr wrap="square" lIns="0" tIns="0" rIns="0" bIns="0" rtlCol="0"/>
            <a:lstStyle/>
            <a:p>
              <a:endParaRPr/>
            </a:p>
          </p:txBody>
        </p:sp>
        <p:pic>
          <p:nvPicPr>
            <p:cNvPr id="5" name="object 5"/>
            <p:cNvPicPr/>
            <p:nvPr/>
          </p:nvPicPr>
          <p:blipFill>
            <a:blip r:embed="rId2" cstate="print"/>
            <a:stretch>
              <a:fillRect/>
            </a:stretch>
          </p:blipFill>
          <p:spPr>
            <a:xfrm>
              <a:off x="5589015" y="2583658"/>
              <a:ext cx="939800" cy="914400"/>
            </a:xfrm>
            <a:prstGeom prst="rect">
              <a:avLst/>
            </a:prstGeom>
          </p:spPr>
        </p:pic>
      </p:grpSp>
      <p:sp>
        <p:nvSpPr>
          <p:cNvPr id="6" name="object 6"/>
          <p:cNvSpPr txBox="1">
            <a:spLocks noGrp="1"/>
          </p:cNvSpPr>
          <p:nvPr>
            <p:ph type="title"/>
          </p:nvPr>
        </p:nvSpPr>
        <p:spPr>
          <a:xfrm>
            <a:off x="3857371" y="4201769"/>
            <a:ext cx="4215765" cy="1864549"/>
          </a:xfrm>
          <a:prstGeom prst="rect">
            <a:avLst/>
          </a:prstGeom>
        </p:spPr>
        <p:txBody>
          <a:bodyPr vert="horz" wrap="square" lIns="0" tIns="12065" rIns="0" bIns="0" rtlCol="0">
            <a:spAutoFit/>
          </a:bodyPr>
          <a:lstStyle/>
          <a:p>
            <a:pPr marL="12700" marR="5080" algn="ctr">
              <a:lnSpc>
                <a:spcPct val="119100"/>
              </a:lnSpc>
              <a:spcBef>
                <a:spcPts val="95"/>
              </a:spcBef>
              <a:tabLst>
                <a:tab pos="1144905" algn="l"/>
                <a:tab pos="3391535" algn="l"/>
              </a:tabLst>
            </a:pPr>
            <a:r>
              <a:rPr lang="en-IN" b="0" dirty="0"/>
              <a:t>Smart Automated Dustbin</a:t>
            </a:r>
            <a:br>
              <a:rPr lang="en-IN" b="0" dirty="0"/>
            </a:br>
            <a:endParaRPr sz="3200" dirty="0">
              <a:latin typeface="Trebuchet MS"/>
              <a:cs typeface="Trebuchet MS"/>
            </a:endParaRPr>
          </a:p>
        </p:txBody>
      </p:sp>
      <p:grpSp>
        <p:nvGrpSpPr>
          <p:cNvPr id="7" name="object 7"/>
          <p:cNvGrpSpPr/>
          <p:nvPr/>
        </p:nvGrpSpPr>
        <p:grpSpPr>
          <a:xfrm>
            <a:off x="0" y="0"/>
            <a:ext cx="12192000" cy="6858000"/>
            <a:chOff x="0" y="0"/>
            <a:chExt cx="12192000" cy="6858000"/>
          </a:xfrm>
        </p:grpSpPr>
        <p:sp>
          <p:nvSpPr>
            <p:cNvPr id="8" name="object 8"/>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pic>
          <p:nvPicPr>
            <p:cNvPr id="9" name="object 9"/>
            <p:cNvPicPr/>
            <p:nvPr/>
          </p:nvPicPr>
          <p:blipFill>
            <a:blip r:embed="rId3" cstate="print">
              <a:extLst>
                <a:ext uri="{28A0092B-C50C-407E-A947-70E740481C1C}">
                  <a14:useLocalDpi xmlns:a14="http://schemas.microsoft.com/office/drawing/2010/main" val="0"/>
                </a:ext>
              </a:extLst>
            </a:blip>
            <a:srcRect/>
            <a:stretch/>
          </p:blipFill>
          <p:spPr>
            <a:xfrm>
              <a:off x="4600575" y="2336080"/>
              <a:ext cx="2990850" cy="1713289"/>
            </a:xfrm>
            <a:prstGeom prst="rect">
              <a:avLst/>
            </a:prstGeom>
          </p:spPr>
        </p:pic>
      </p:gr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30675" y="239610"/>
            <a:ext cx="3787775" cy="651078"/>
          </a:xfrm>
          <a:prstGeom prst="rect">
            <a:avLst/>
          </a:prstGeom>
        </p:spPr>
        <p:txBody>
          <a:bodyPr vert="horz" wrap="square" lIns="0" tIns="62941" rIns="0" bIns="0" rtlCol="0">
            <a:spAutoFit/>
          </a:bodyPr>
          <a:lstStyle/>
          <a:p>
            <a:pPr marL="1291590">
              <a:lnSpc>
                <a:spcPct val="100000"/>
              </a:lnSpc>
              <a:spcBef>
                <a:spcPts val="100"/>
              </a:spcBef>
            </a:pPr>
            <a:r>
              <a:rPr b="0" spc="-10" dirty="0">
                <a:latin typeface="Trebuchet MS"/>
                <a:cs typeface="Trebuchet MS"/>
              </a:rPr>
              <a:t>ABSTRACT</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4" name="object 4"/>
          <p:cNvSpPr txBox="1"/>
          <p:nvPr/>
        </p:nvSpPr>
        <p:spPr>
          <a:xfrm>
            <a:off x="990600" y="1447800"/>
            <a:ext cx="9975850" cy="4322337"/>
          </a:xfrm>
          <a:prstGeom prst="rect">
            <a:avLst/>
          </a:prstGeom>
        </p:spPr>
        <p:txBody>
          <a:bodyPr vert="horz" wrap="square" lIns="0" tIns="13335" rIns="0" bIns="0" rtlCol="0">
            <a:spAutoFit/>
          </a:bodyPr>
          <a:lstStyle/>
          <a:p>
            <a:pPr marL="352425" marR="5715" indent="-339725" algn="just">
              <a:lnSpc>
                <a:spcPct val="100000"/>
              </a:lnSpc>
              <a:spcBef>
                <a:spcPts val="105"/>
              </a:spcBef>
              <a:buFont typeface="Arial MT"/>
              <a:buChar char="•"/>
              <a:tabLst>
                <a:tab pos="355600" algn="l"/>
              </a:tabLst>
            </a:pPr>
            <a:r>
              <a:rPr lang="en-US" sz="2000" dirty="0"/>
              <a:t>The Smart Automated Dustbin project is designed to revolutionize the way waste is managed in both public and private spaces by introducing automation and contactless operation for enhanced hygiene and convenience. At its core, this system uses an Arduino Uno microcontroller interfaced with an ultrasonic sensor to detect the presence of nearby hands or waste materials. When a user approaches, the sensor measures the distance to the object and sends data to the microcontroller, which in turn signals a servo motor to automatically open the bin’s lid. After a short delay, or once the waste is deposited, the lid closes automatically to maintain sanitation and prevent odors from escaping. In addition, smart dustbins can be enhanced with IoT modules such as </a:t>
            </a:r>
            <a:r>
              <a:rPr lang="en-US" sz="2000" dirty="0" err="1"/>
              <a:t>WiFi</a:t>
            </a:r>
            <a:r>
              <a:rPr lang="en-US" sz="2000" dirty="0"/>
              <a:t> or GSM for real-time monitoring and notification when the bin is full, facilitating efficient waste collection by municipal authorities. The system’s hands-free operation drastically reduces the risk of cross-contamination, especially important in sensitive environments like hospitals, schools, and urban areas.</a:t>
            </a:r>
            <a:endParaRPr sz="2000" dirty="0">
              <a:latin typeface="Calibri"/>
              <a:cs typeface="Calibri"/>
            </a:endParaRPr>
          </a:p>
        </p:txBody>
      </p:sp>
      <p:sp>
        <p:nvSpPr>
          <p:cNvPr id="5" name="object 5"/>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52591" y="218059"/>
            <a:ext cx="804545" cy="436880"/>
          </a:xfrm>
          <a:prstGeom prst="rect">
            <a:avLst/>
          </a:prstGeom>
        </p:spPr>
        <p:txBody>
          <a:bodyPr vert="horz" wrap="square" lIns="0" tIns="12700" rIns="0" bIns="0" rtlCol="0">
            <a:spAutoFit/>
          </a:bodyPr>
          <a:lstStyle/>
          <a:p>
            <a:pPr marL="12700">
              <a:lnSpc>
                <a:spcPct val="100000"/>
              </a:lnSpc>
              <a:spcBef>
                <a:spcPts val="100"/>
              </a:spcBef>
            </a:pPr>
            <a:r>
              <a:rPr b="0" spc="-185" dirty="0">
                <a:latin typeface="Trebuchet MS"/>
                <a:cs typeface="Trebuchet MS"/>
              </a:rPr>
              <a:t>INDEX</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graphicFrame>
        <p:nvGraphicFramePr>
          <p:cNvPr id="4" name="object 4"/>
          <p:cNvGraphicFramePr>
            <a:graphicFrameLocks noGrp="1"/>
          </p:cNvGraphicFramePr>
          <p:nvPr>
            <p:extLst>
              <p:ext uri="{D42A27DB-BD31-4B8C-83A1-F6EECF244321}">
                <p14:modId xmlns:p14="http://schemas.microsoft.com/office/powerpoint/2010/main" val="2806688672"/>
              </p:ext>
            </p:extLst>
          </p:nvPr>
        </p:nvGraphicFramePr>
        <p:xfrm>
          <a:off x="3966083" y="1666874"/>
          <a:ext cx="4227830" cy="3209926"/>
        </p:xfrm>
        <a:graphic>
          <a:graphicData uri="http://schemas.openxmlformats.org/drawingml/2006/table">
            <a:tbl>
              <a:tblPr firstRow="1" bandRow="1">
                <a:tableStyleId>{2D5ABB26-0587-4C30-8999-92F81FD0307C}</a:tableStyleId>
              </a:tblPr>
              <a:tblGrid>
                <a:gridCol w="1325245">
                  <a:extLst>
                    <a:ext uri="{9D8B030D-6E8A-4147-A177-3AD203B41FA5}">
                      <a16:colId xmlns:a16="http://schemas.microsoft.com/office/drawing/2014/main" val="20000"/>
                    </a:ext>
                  </a:extLst>
                </a:gridCol>
                <a:gridCol w="2902585">
                  <a:extLst>
                    <a:ext uri="{9D8B030D-6E8A-4147-A177-3AD203B41FA5}">
                      <a16:colId xmlns:a16="http://schemas.microsoft.com/office/drawing/2014/main" val="20001"/>
                    </a:ext>
                  </a:extLst>
                </a:gridCol>
              </a:tblGrid>
              <a:tr h="453506">
                <a:tc>
                  <a:txBody>
                    <a:bodyPr/>
                    <a:lstStyle/>
                    <a:p>
                      <a:pPr marL="91440">
                        <a:lnSpc>
                          <a:spcPct val="100000"/>
                        </a:lnSpc>
                        <a:spcBef>
                          <a:spcPts val="220"/>
                        </a:spcBef>
                      </a:pPr>
                      <a:r>
                        <a:rPr sz="2000" spc="-20" dirty="0">
                          <a:solidFill>
                            <a:srgbClr val="FFFFFF"/>
                          </a:solidFill>
                          <a:latin typeface="Trebuchet MS"/>
                          <a:cs typeface="Trebuchet MS"/>
                        </a:rPr>
                        <a:t>S.NO</a:t>
                      </a:r>
                      <a:endParaRPr sz="2000">
                        <a:latin typeface="Trebuchet MS"/>
                        <a:cs typeface="Trebuchet MS"/>
                      </a:endParaRPr>
                    </a:p>
                  </a:txBody>
                  <a:tcPr marL="0" marR="0" marT="2794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1ADC6"/>
                    </a:solidFill>
                  </a:tcPr>
                </a:tc>
                <a:tc>
                  <a:txBody>
                    <a:bodyPr/>
                    <a:lstStyle/>
                    <a:p>
                      <a:pPr marL="92075">
                        <a:lnSpc>
                          <a:spcPct val="100000"/>
                        </a:lnSpc>
                        <a:spcBef>
                          <a:spcPts val="160"/>
                        </a:spcBef>
                      </a:pPr>
                      <a:r>
                        <a:rPr sz="2000" b="1" spc="-10" dirty="0">
                          <a:solidFill>
                            <a:srgbClr val="FFFFFF"/>
                          </a:solidFill>
                          <a:latin typeface="Calibri"/>
                          <a:cs typeface="Calibri"/>
                        </a:rPr>
                        <a:t>CONTENTS</a:t>
                      </a:r>
                      <a:endParaRPr sz="2000">
                        <a:latin typeface="Calibri"/>
                        <a:cs typeface="Calibri"/>
                      </a:endParaRPr>
                    </a:p>
                  </a:txBody>
                  <a:tcPr marL="0" marR="0" marT="2032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1ADC6"/>
                    </a:solidFill>
                  </a:tcPr>
                </a:tc>
                <a:extLst>
                  <a:ext uri="{0D108BD9-81ED-4DB2-BD59-A6C34878D82A}">
                    <a16:rowId xmlns:a16="http://schemas.microsoft.com/office/drawing/2014/main" val="10000"/>
                  </a:ext>
                </a:extLst>
              </a:tr>
              <a:tr h="551284">
                <a:tc>
                  <a:txBody>
                    <a:bodyPr/>
                    <a:lstStyle/>
                    <a:p>
                      <a:pPr marL="91440">
                        <a:lnSpc>
                          <a:spcPct val="100000"/>
                        </a:lnSpc>
                        <a:spcBef>
                          <a:spcPts val="244"/>
                        </a:spcBef>
                      </a:pPr>
                      <a:r>
                        <a:rPr sz="1800" spc="-50" dirty="0">
                          <a:solidFill>
                            <a:srgbClr val="FFFFFF"/>
                          </a:solidFill>
                          <a:latin typeface="Trebuchet MS"/>
                          <a:cs typeface="Trebuchet MS"/>
                        </a:rPr>
                        <a:t>1</a:t>
                      </a:r>
                      <a:endParaRPr sz="1800">
                        <a:latin typeface="Trebuchet MS"/>
                        <a:cs typeface="Trebuchet MS"/>
                      </a:endParaRPr>
                    </a:p>
                  </a:txBody>
                  <a:tcPr marL="0" marR="0" marT="3111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tc>
                  <a:txBody>
                    <a:bodyPr/>
                    <a:lstStyle/>
                    <a:p>
                      <a:pPr marL="92075">
                        <a:lnSpc>
                          <a:spcPct val="100000"/>
                        </a:lnSpc>
                        <a:spcBef>
                          <a:spcPts val="195"/>
                        </a:spcBef>
                      </a:pPr>
                      <a:r>
                        <a:rPr sz="1800" spc="-10" dirty="0">
                          <a:latin typeface="Calibri"/>
                          <a:cs typeface="Calibri"/>
                        </a:rPr>
                        <a:t>INTRODUCTION</a:t>
                      </a:r>
                      <a:endParaRPr sz="1800" dirty="0">
                        <a:latin typeface="Calibri"/>
                        <a:cs typeface="Calibri"/>
                      </a:endParaRPr>
                    </a:p>
                  </a:txBody>
                  <a:tcPr marL="0" marR="0" marT="247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extLst>
                  <a:ext uri="{0D108BD9-81ED-4DB2-BD59-A6C34878D82A}">
                    <a16:rowId xmlns:a16="http://schemas.microsoft.com/office/drawing/2014/main" val="10001"/>
                  </a:ext>
                </a:extLst>
              </a:tr>
              <a:tr h="551284">
                <a:tc>
                  <a:txBody>
                    <a:bodyPr/>
                    <a:lstStyle/>
                    <a:p>
                      <a:pPr marL="91440">
                        <a:lnSpc>
                          <a:spcPct val="100000"/>
                        </a:lnSpc>
                        <a:spcBef>
                          <a:spcPts val="165"/>
                        </a:spcBef>
                      </a:pPr>
                      <a:r>
                        <a:rPr sz="1800" spc="-50" dirty="0">
                          <a:solidFill>
                            <a:srgbClr val="FFFFFF"/>
                          </a:solidFill>
                          <a:latin typeface="Trebuchet MS"/>
                          <a:cs typeface="Trebuchet MS"/>
                        </a:rPr>
                        <a:t>2</a:t>
                      </a:r>
                      <a:endParaRPr sz="1800">
                        <a:latin typeface="Trebuchet MS"/>
                        <a:cs typeface="Trebuchet MS"/>
                      </a:endParaRPr>
                    </a:p>
                  </a:txBody>
                  <a:tcPr marL="0" marR="0" marT="2095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tc>
                  <a:txBody>
                    <a:bodyPr/>
                    <a:lstStyle/>
                    <a:p>
                      <a:pPr marL="92075">
                        <a:lnSpc>
                          <a:spcPct val="100000"/>
                        </a:lnSpc>
                        <a:spcBef>
                          <a:spcPts val="120"/>
                        </a:spcBef>
                      </a:pPr>
                      <a:r>
                        <a:rPr sz="1800" spc="-10" dirty="0">
                          <a:latin typeface="Calibri"/>
                          <a:cs typeface="Calibri"/>
                        </a:rPr>
                        <a:t>OBJECTIVES</a:t>
                      </a:r>
                      <a:endParaRPr sz="1800">
                        <a:latin typeface="Calibri"/>
                        <a:cs typeface="Calibri"/>
                      </a:endParaRPr>
                    </a:p>
                  </a:txBody>
                  <a:tcPr marL="0" marR="0" marT="1524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extLst>
                  <a:ext uri="{0D108BD9-81ED-4DB2-BD59-A6C34878D82A}">
                    <a16:rowId xmlns:a16="http://schemas.microsoft.com/office/drawing/2014/main" val="10002"/>
                  </a:ext>
                </a:extLst>
              </a:tr>
              <a:tr h="551284">
                <a:tc>
                  <a:txBody>
                    <a:bodyPr/>
                    <a:lstStyle/>
                    <a:p>
                      <a:pPr marL="91440">
                        <a:lnSpc>
                          <a:spcPct val="100000"/>
                        </a:lnSpc>
                        <a:spcBef>
                          <a:spcPts val="185"/>
                        </a:spcBef>
                      </a:pPr>
                      <a:r>
                        <a:rPr sz="1800" spc="-50" dirty="0">
                          <a:solidFill>
                            <a:srgbClr val="FFFFFF"/>
                          </a:solidFill>
                          <a:latin typeface="Trebuchet MS"/>
                          <a:cs typeface="Trebuchet MS"/>
                        </a:rPr>
                        <a:t>3</a:t>
                      </a:r>
                      <a:endParaRPr sz="1800">
                        <a:latin typeface="Trebuchet MS"/>
                        <a:cs typeface="Trebuchet MS"/>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tc>
                  <a:txBody>
                    <a:bodyPr/>
                    <a:lstStyle/>
                    <a:p>
                      <a:pPr marL="92075">
                        <a:lnSpc>
                          <a:spcPct val="100000"/>
                        </a:lnSpc>
                        <a:spcBef>
                          <a:spcPts val="140"/>
                        </a:spcBef>
                      </a:pPr>
                      <a:r>
                        <a:rPr sz="1800" spc="-10" dirty="0">
                          <a:latin typeface="Calibri"/>
                          <a:cs typeface="Calibri"/>
                        </a:rPr>
                        <a:t>METHODOLOGY</a:t>
                      </a:r>
                      <a:endParaRPr sz="1800">
                        <a:latin typeface="Calibri"/>
                        <a:cs typeface="Calibri"/>
                      </a:endParaRPr>
                    </a:p>
                  </a:txBody>
                  <a:tcPr marL="0" marR="0" marT="177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extLst>
                  <a:ext uri="{0D108BD9-81ED-4DB2-BD59-A6C34878D82A}">
                    <a16:rowId xmlns:a16="http://schemas.microsoft.com/office/drawing/2014/main" val="10003"/>
                  </a:ext>
                </a:extLst>
              </a:tr>
              <a:tr h="551284">
                <a:tc>
                  <a:txBody>
                    <a:bodyPr/>
                    <a:lstStyle/>
                    <a:p>
                      <a:pPr marL="91440">
                        <a:lnSpc>
                          <a:spcPct val="100000"/>
                        </a:lnSpc>
                        <a:spcBef>
                          <a:spcPts val="204"/>
                        </a:spcBef>
                      </a:pPr>
                      <a:r>
                        <a:rPr sz="1800" spc="-50" dirty="0">
                          <a:solidFill>
                            <a:srgbClr val="FFFFFF"/>
                          </a:solidFill>
                          <a:latin typeface="Trebuchet MS"/>
                          <a:cs typeface="Trebuchet MS"/>
                        </a:rPr>
                        <a:t>4</a:t>
                      </a:r>
                      <a:endParaRPr sz="1800">
                        <a:latin typeface="Trebuchet MS"/>
                        <a:cs typeface="Trebuchet MS"/>
                      </a:endParaRPr>
                    </a:p>
                  </a:txBody>
                  <a:tcPr marL="0" marR="0" marT="2603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tc>
                  <a:txBody>
                    <a:bodyPr/>
                    <a:lstStyle/>
                    <a:p>
                      <a:pPr marL="92075">
                        <a:lnSpc>
                          <a:spcPct val="100000"/>
                        </a:lnSpc>
                        <a:spcBef>
                          <a:spcPts val="204"/>
                        </a:spcBef>
                      </a:pPr>
                      <a:r>
                        <a:rPr sz="1800" spc="-10" dirty="0">
                          <a:latin typeface="Trebuchet MS"/>
                          <a:cs typeface="Trebuchet MS"/>
                        </a:rPr>
                        <a:t>RESULTS</a:t>
                      </a:r>
                      <a:endParaRPr sz="1800" dirty="0">
                        <a:latin typeface="Trebuchet MS"/>
                        <a:cs typeface="Trebuchet MS"/>
                      </a:endParaRPr>
                    </a:p>
                  </a:txBody>
                  <a:tcPr marL="0" marR="0" marT="2603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extLst>
                  <a:ext uri="{0D108BD9-81ED-4DB2-BD59-A6C34878D82A}">
                    <a16:rowId xmlns:a16="http://schemas.microsoft.com/office/drawing/2014/main" val="10004"/>
                  </a:ext>
                </a:extLst>
              </a:tr>
              <a:tr h="551284">
                <a:tc>
                  <a:txBody>
                    <a:bodyPr/>
                    <a:lstStyle/>
                    <a:p>
                      <a:pPr marL="91440">
                        <a:lnSpc>
                          <a:spcPct val="100000"/>
                        </a:lnSpc>
                        <a:spcBef>
                          <a:spcPts val="229"/>
                        </a:spcBef>
                      </a:pPr>
                      <a:r>
                        <a:rPr sz="1800" spc="-50" dirty="0">
                          <a:solidFill>
                            <a:srgbClr val="FFFFFF"/>
                          </a:solidFill>
                          <a:latin typeface="Trebuchet MS"/>
                          <a:cs typeface="Trebuchet MS"/>
                        </a:rPr>
                        <a:t>5</a:t>
                      </a:r>
                      <a:endParaRPr sz="1800">
                        <a:latin typeface="Trebuchet MS"/>
                        <a:cs typeface="Trebuchet MS"/>
                      </a:endParaRPr>
                    </a:p>
                  </a:txBody>
                  <a:tcPr marL="0" marR="0" marT="2920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tc>
                  <a:txBody>
                    <a:bodyPr/>
                    <a:lstStyle/>
                    <a:p>
                      <a:pPr marL="92075">
                        <a:lnSpc>
                          <a:spcPct val="100000"/>
                        </a:lnSpc>
                        <a:spcBef>
                          <a:spcPts val="229"/>
                        </a:spcBef>
                      </a:pPr>
                      <a:r>
                        <a:rPr sz="1800" spc="-10" dirty="0">
                          <a:latin typeface="Trebuchet MS"/>
                          <a:cs typeface="Trebuchet MS"/>
                        </a:rPr>
                        <a:t>CONCLUSION</a:t>
                      </a:r>
                      <a:endParaRPr sz="1800" dirty="0">
                        <a:latin typeface="Trebuchet MS"/>
                        <a:cs typeface="Trebuchet MS"/>
                      </a:endParaRPr>
                    </a:p>
                  </a:txBody>
                  <a:tcPr marL="0" marR="0" marT="2920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59F25"/>
                    </a:solidFill>
                  </a:tcPr>
                </a:tc>
                <a:extLst>
                  <a:ext uri="{0D108BD9-81ED-4DB2-BD59-A6C34878D82A}">
                    <a16:rowId xmlns:a16="http://schemas.microsoft.com/office/drawing/2014/main" val="10005"/>
                  </a:ext>
                </a:extLst>
              </a:tr>
            </a:tbl>
          </a:graphicData>
        </a:graphic>
      </p:graphicFrame>
      <p:sp>
        <p:nvSpPr>
          <p:cNvPr id="5" name="object 5"/>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01040">
              <a:lnSpc>
                <a:spcPct val="100000"/>
              </a:lnSpc>
              <a:spcBef>
                <a:spcPts val="100"/>
              </a:spcBef>
            </a:pPr>
            <a:r>
              <a:rPr b="0" spc="-10" dirty="0">
                <a:latin typeface="Trebuchet MS"/>
                <a:cs typeface="Trebuchet MS"/>
              </a:rPr>
              <a:t>INTRODUCTION</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4" name="object 4"/>
          <p:cNvSpPr txBox="1"/>
          <p:nvPr/>
        </p:nvSpPr>
        <p:spPr>
          <a:xfrm>
            <a:off x="917244" y="1239088"/>
            <a:ext cx="10193655" cy="4963538"/>
          </a:xfrm>
          <a:prstGeom prst="rect">
            <a:avLst/>
          </a:prstGeom>
        </p:spPr>
        <p:txBody>
          <a:bodyPr vert="horz" wrap="square" lIns="0" tIns="13335" rIns="0" bIns="0" rtlCol="0">
            <a:spAutoFit/>
          </a:bodyPr>
          <a:lstStyle/>
          <a:p>
            <a:pPr marL="354965" marR="28575" indent="-342900" algn="just">
              <a:spcBef>
                <a:spcPts val="105"/>
              </a:spcBef>
              <a:buFont typeface="Wingdings"/>
              <a:buChar char=""/>
              <a:tabLst>
                <a:tab pos="354965" algn="l"/>
              </a:tabLst>
            </a:pPr>
            <a:r>
              <a:rPr lang="en-US" sz="2000" dirty="0"/>
              <a:t>The Smart Automated Dustbin is a practical innovation addressing contemporary challenges in hygienic waste disposal and urban cleanliness. Traditional dustbins require physical contact, increasing the possibility of spreading germs and creating an unpleasant experience for users. The project aims to transform this interaction by implementing a contactless solution, using embedded electronics to open and close the bin’s lid automatically when a person approaches, thereby significantly enhancing public health and user convenience.</a:t>
            </a:r>
          </a:p>
          <a:p>
            <a:pPr marL="354965" marR="28575" indent="-342900" algn="just">
              <a:lnSpc>
                <a:spcPct val="100000"/>
              </a:lnSpc>
              <a:spcBef>
                <a:spcPts val="105"/>
              </a:spcBef>
              <a:buFont typeface="Wingdings"/>
              <a:buChar char=""/>
              <a:tabLst>
                <a:tab pos="354965" algn="l"/>
              </a:tabLst>
            </a:pPr>
            <a:endParaRPr lang="en-US" sz="2000" dirty="0"/>
          </a:p>
          <a:p>
            <a:pPr marL="354965" marR="28575" indent="-342900" algn="just">
              <a:lnSpc>
                <a:spcPct val="100000"/>
              </a:lnSpc>
              <a:spcBef>
                <a:spcPts val="105"/>
              </a:spcBef>
              <a:buFont typeface="Wingdings"/>
              <a:buChar char=""/>
              <a:tabLst>
                <a:tab pos="354965" algn="l"/>
              </a:tabLst>
            </a:pPr>
            <a:r>
              <a:rPr lang="en-US" sz="2000" dirty="0"/>
              <a:t>Built around widely available components such as the Arduino Uno, ultrasonic sensor, and servo motor, the system operates in a continuous feedback loop. The ultrasonic sensor, mounted above the bin’s lid, constantly monitors the area in front of the dustbin. As soon as it detects an object—typically a hand or waste—within a preconfigured range, it communicates this information to the microcontroller. The Arduino then processes the input and triggers a servo motor, which lifts the lid to allow waste disposal without human touch. Following a short programmable delay, the lid automatically returns to its closed position, maintaining both hygiene and odor control.</a:t>
            </a:r>
            <a:endParaRPr sz="2000" dirty="0">
              <a:latin typeface="Calibri"/>
              <a:cs typeface="Calibri"/>
            </a:endParaRPr>
          </a:p>
        </p:txBody>
      </p:sp>
      <p:sp>
        <p:nvSpPr>
          <p:cNvPr id="5" name="object 5"/>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01040">
              <a:lnSpc>
                <a:spcPct val="100000"/>
              </a:lnSpc>
              <a:spcBef>
                <a:spcPts val="100"/>
              </a:spcBef>
            </a:pPr>
            <a:r>
              <a:rPr b="0" spc="-10" dirty="0">
                <a:latin typeface="Trebuchet MS"/>
                <a:cs typeface="Trebuchet MS"/>
              </a:rPr>
              <a:t>INTRODUCTION</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4" name="object 4"/>
          <p:cNvSpPr txBox="1"/>
          <p:nvPr/>
        </p:nvSpPr>
        <p:spPr>
          <a:xfrm>
            <a:off x="917244" y="1377518"/>
            <a:ext cx="10188575" cy="5294655"/>
          </a:xfrm>
          <a:prstGeom prst="rect">
            <a:avLst/>
          </a:prstGeom>
        </p:spPr>
        <p:txBody>
          <a:bodyPr vert="horz" wrap="square" lIns="0" tIns="15240" rIns="0" bIns="0" rtlCol="0">
            <a:spAutoFit/>
          </a:bodyPr>
          <a:lstStyle/>
          <a:p>
            <a:pPr marL="354965" marR="50165" indent="-342900" algn="just">
              <a:lnSpc>
                <a:spcPct val="99100"/>
              </a:lnSpc>
              <a:spcBef>
                <a:spcPts val="120"/>
              </a:spcBef>
              <a:buFont typeface="Wingdings"/>
              <a:buChar char=""/>
              <a:tabLst>
                <a:tab pos="354965" algn="l"/>
              </a:tabLst>
            </a:pPr>
            <a:r>
              <a:rPr lang="en-US" sz="2000" dirty="0"/>
              <a:t>This project exemplifies the integration of microcontroller programming, sensor fusion, and real-time system control, serving as a platform for further development in the fields of automation, Internet of Things (IoT), and smart city solutions. With its adaptability, cost-effectiveness, and positive environmental impact, the smart automated dustbin is a significant advancement toward modern waste management practices.</a:t>
            </a:r>
          </a:p>
          <a:p>
            <a:pPr marL="354965" marR="50165" indent="-342900" algn="just">
              <a:lnSpc>
                <a:spcPct val="99100"/>
              </a:lnSpc>
              <a:spcBef>
                <a:spcPts val="120"/>
              </a:spcBef>
              <a:buFont typeface="Wingdings"/>
              <a:buChar char=""/>
              <a:tabLst>
                <a:tab pos="354965" algn="l"/>
              </a:tabLst>
            </a:pPr>
            <a:endParaRPr lang="en-US" sz="2000" dirty="0"/>
          </a:p>
          <a:p>
            <a:pPr marL="354965" marR="50165" indent="-342900" algn="just">
              <a:lnSpc>
                <a:spcPct val="99100"/>
              </a:lnSpc>
              <a:spcBef>
                <a:spcPts val="120"/>
              </a:spcBef>
              <a:buFont typeface="Wingdings"/>
              <a:buChar char=""/>
              <a:tabLst>
                <a:tab pos="354965" algn="l"/>
              </a:tabLst>
            </a:pPr>
            <a:r>
              <a:rPr lang="en-US" sz="2000" dirty="0"/>
              <a:t>The automation of mundane activities like waste disposal can have a wide-reaching impact, especially in environments such as hospitals, schools, offices, shopping malls, and smart cities where cleanliness is critical and large numbers of people interact with shared facilities. Furthermore, the smart dustbin can be future-proofed with advanced features—such as real-time fill-level detection using additional sensors, integration with wireless networks to send alerts for garbage collection, or even solar-powered operation to improve sustainability. The system not only introduces users to the fundamentals of embedded programming, sensor integration, and mechanical actuation, but also serves as a gateway into broader applications of IoT and smart infrastructure development.</a:t>
            </a:r>
          </a:p>
          <a:p>
            <a:pPr marL="354965" marR="50165" indent="-342900" algn="just">
              <a:lnSpc>
                <a:spcPct val="99100"/>
              </a:lnSpc>
              <a:spcBef>
                <a:spcPts val="120"/>
              </a:spcBef>
              <a:buFont typeface="Wingdings"/>
              <a:buChar char=""/>
              <a:tabLst>
                <a:tab pos="354965" algn="l"/>
              </a:tabLst>
            </a:pPr>
            <a:endParaRPr lang="en-US" sz="2400" dirty="0">
              <a:latin typeface="Calibri"/>
              <a:cs typeface="Calibri"/>
            </a:endParaRPr>
          </a:p>
        </p:txBody>
      </p:sp>
      <p:sp>
        <p:nvSpPr>
          <p:cNvPr id="5" name="object 5"/>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982980">
              <a:lnSpc>
                <a:spcPct val="100000"/>
              </a:lnSpc>
              <a:spcBef>
                <a:spcPts val="100"/>
              </a:spcBef>
            </a:pPr>
            <a:r>
              <a:rPr b="0" spc="-10" dirty="0">
                <a:latin typeface="Trebuchet MS"/>
                <a:cs typeface="Trebuchet MS"/>
              </a:rPr>
              <a:t>OBJECTIVES</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4" name="object 4"/>
          <p:cNvSpPr txBox="1"/>
          <p:nvPr/>
        </p:nvSpPr>
        <p:spPr>
          <a:xfrm>
            <a:off x="990600" y="1255082"/>
            <a:ext cx="9807575" cy="5049075"/>
          </a:xfrm>
          <a:prstGeom prst="rect">
            <a:avLst/>
          </a:prstGeom>
        </p:spPr>
        <p:txBody>
          <a:bodyPr vert="horz" wrap="square" lIns="0" tIns="48260" rIns="0" bIns="0" rtlCol="0">
            <a:spAutoFit/>
          </a:bodyPr>
          <a:lstStyle/>
          <a:p>
            <a:r>
              <a:rPr lang="en-US" sz="2000" u="sng" dirty="0"/>
              <a:t>Hygienic Waste Disposal</a:t>
            </a:r>
            <a:r>
              <a:rPr lang="en-US" sz="2000" dirty="0"/>
              <a:t>: To design a system that enables users to dispose of waste without any physical contact, reducing the risk of contamination and promoting cleanliness in shared environments.</a:t>
            </a:r>
          </a:p>
          <a:p>
            <a:endParaRPr lang="en-US" sz="2000" dirty="0"/>
          </a:p>
          <a:p>
            <a:r>
              <a:rPr lang="en-US" sz="2000" u="sng" dirty="0"/>
              <a:t>Proximity-Based Automation</a:t>
            </a:r>
            <a:r>
              <a:rPr lang="en-US" sz="2000" dirty="0"/>
              <a:t>: To utilize an ultrasonic sensor to automatically detect when a user or object approaches, ensuring the dustbin’s lid opens and closes seamlessly and responsively.</a:t>
            </a:r>
          </a:p>
          <a:p>
            <a:endParaRPr lang="en-US" sz="2000" dirty="0"/>
          </a:p>
          <a:p>
            <a:r>
              <a:rPr lang="en-US" sz="2000" u="sng" dirty="0"/>
              <a:t>Fill Level Monitoring</a:t>
            </a:r>
            <a:r>
              <a:rPr lang="en-US" sz="2000" dirty="0"/>
              <a:t>: To measure and track the amount of waste in the bin in real time, providing alerts or notifications when the dustbin is full to prevent overflow and support timely waste collection.</a:t>
            </a:r>
          </a:p>
          <a:p>
            <a:endParaRPr lang="en-US" sz="2000" dirty="0"/>
          </a:p>
          <a:p>
            <a:r>
              <a:rPr lang="en-US" sz="2000" u="sng" dirty="0"/>
              <a:t>Efficient Waste Management</a:t>
            </a:r>
            <a:r>
              <a:rPr lang="en-US" sz="2000" dirty="0"/>
              <a:t>: To facilitate smarter and more efficient waste collection processes, potentially integrating IoT modules for remote monitoring and notifications to municipal authorities or facility managers.</a:t>
            </a:r>
          </a:p>
          <a:p>
            <a:pPr marL="354965" marR="6985" indent="-342900" algn="just">
              <a:lnSpc>
                <a:spcPct val="90300"/>
              </a:lnSpc>
              <a:spcBef>
                <a:spcPts val="380"/>
              </a:spcBef>
              <a:buFont typeface="Wingdings"/>
              <a:buChar char=""/>
              <a:tabLst>
                <a:tab pos="354965" algn="l"/>
              </a:tabLst>
            </a:pPr>
            <a:endParaRPr sz="2400" dirty="0">
              <a:latin typeface="Calibri"/>
              <a:cs typeface="Calibri"/>
            </a:endParaRPr>
          </a:p>
        </p:txBody>
      </p:sp>
      <p:sp>
        <p:nvSpPr>
          <p:cNvPr id="5" name="object 5"/>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8982" y="228600"/>
            <a:ext cx="8596668" cy="1320800"/>
          </a:xfrm>
          <a:prstGeom prst="rect">
            <a:avLst/>
          </a:prstGeom>
        </p:spPr>
        <p:txBody>
          <a:bodyPr vert="horz" wrap="square" lIns="0" tIns="12700" rIns="0" bIns="0" rtlCol="0">
            <a:spAutoFit/>
          </a:bodyPr>
          <a:lstStyle/>
          <a:p>
            <a:pPr marL="708025">
              <a:lnSpc>
                <a:spcPct val="100000"/>
              </a:lnSpc>
              <a:spcBef>
                <a:spcPts val="100"/>
              </a:spcBef>
            </a:pPr>
            <a:r>
              <a:rPr b="0" spc="-10" dirty="0">
                <a:latin typeface="Trebuchet MS"/>
                <a:cs typeface="Trebuchet MS"/>
              </a:rPr>
              <a:t>METHODOLOGY</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4" name="object 4"/>
          <p:cNvSpPr txBox="1"/>
          <p:nvPr/>
        </p:nvSpPr>
        <p:spPr>
          <a:xfrm>
            <a:off x="743267" y="744953"/>
            <a:ext cx="10705465" cy="6211957"/>
          </a:xfrm>
          <a:prstGeom prst="rect">
            <a:avLst/>
          </a:prstGeom>
        </p:spPr>
        <p:txBody>
          <a:bodyPr vert="horz" wrap="square" lIns="0" tIns="12700" rIns="0" bIns="0" rtlCol="0">
            <a:spAutoFit/>
          </a:bodyPr>
          <a:lstStyle/>
          <a:p>
            <a:r>
              <a:rPr lang="en-US" sz="1600" u="sng" dirty="0"/>
              <a:t>Design and Preparation</a:t>
            </a:r>
            <a:r>
              <a:rPr lang="en-US" sz="1600" dirty="0"/>
              <a:t>: The dustbin structure is modified to accommodate the sensors and motor, ensuring stable mounting and smooth lid operation.</a:t>
            </a:r>
          </a:p>
          <a:p>
            <a:endParaRPr lang="en-US" sz="1600" dirty="0"/>
          </a:p>
          <a:p>
            <a:r>
              <a:rPr lang="en-US" sz="1600" u="sng" dirty="0"/>
              <a:t>Sensor Installation</a:t>
            </a:r>
            <a:r>
              <a:rPr lang="en-US" sz="1600" dirty="0"/>
              <a:t>: An ultrasonic sensor is installed near the lid opening to continually measure the distance of approaching objects such as a hand or trash.</a:t>
            </a:r>
          </a:p>
          <a:p>
            <a:endParaRPr lang="en-US" sz="1600" dirty="0"/>
          </a:p>
          <a:p>
            <a:r>
              <a:rPr lang="en-US" sz="1600" u="sng" dirty="0"/>
              <a:t>Microcontroller Setup</a:t>
            </a:r>
            <a:r>
              <a:rPr lang="en-US" sz="1600" dirty="0"/>
              <a:t>: The Arduino (or </a:t>
            </a:r>
            <a:r>
              <a:rPr lang="en-US" sz="1600" dirty="0" err="1"/>
              <a:t>NodeMCU</a:t>
            </a:r>
            <a:r>
              <a:rPr lang="en-US" sz="1600" dirty="0"/>
              <a:t>) is programmed and positioned inside the dustbin, interfacing with all peripherals securely to avoid loose connections.</a:t>
            </a:r>
          </a:p>
          <a:p>
            <a:r>
              <a:rPr lang="en-US" sz="1600" dirty="0"/>
              <a:t>Power Management: The circuit is powered using a 9V battery or an adapter, with wiring managed to prevent damage and to ensure safety.</a:t>
            </a:r>
          </a:p>
          <a:p>
            <a:endParaRPr lang="en-US" sz="1600" u="sng" dirty="0"/>
          </a:p>
          <a:p>
            <a:r>
              <a:rPr lang="en-US" sz="1600" u="sng" dirty="0"/>
              <a:t>Sensor Data Averaging</a:t>
            </a:r>
            <a:r>
              <a:rPr lang="en-US" sz="1600" dirty="0"/>
              <a:t>: The microcontroller software averages multiple sensor readings to reduce noise and false triggers, only triggering the lid when a consistent object presence is detected.</a:t>
            </a:r>
          </a:p>
          <a:p>
            <a:endParaRPr lang="en-US" sz="1600" dirty="0"/>
          </a:p>
          <a:p>
            <a:r>
              <a:rPr lang="en-US" sz="1600" u="sng" dirty="0"/>
              <a:t>Operational Logic</a:t>
            </a:r>
            <a:r>
              <a:rPr lang="en-US" sz="1600" dirty="0"/>
              <a:t>: When the sensor detects an object within a set range, the microcontroller activates the servo to open the lid for a pre-defined interval, then closes it automatically—this ensures time-based access control.</a:t>
            </a:r>
          </a:p>
          <a:p>
            <a:r>
              <a:rPr lang="en-US" sz="1600" dirty="0"/>
              <a:t>Status Indication: An LED or buzzer may be included to indicate the bin's operational status—such as lid opening, closing, or bin full alerts.</a:t>
            </a:r>
          </a:p>
          <a:p>
            <a:endParaRPr lang="en-US" sz="1600" dirty="0"/>
          </a:p>
          <a:p>
            <a:r>
              <a:rPr lang="en-US" sz="1600" u="sng" dirty="0"/>
              <a:t>Fill-Level Monitoring</a:t>
            </a:r>
            <a:r>
              <a:rPr lang="en-US" sz="1600" dirty="0"/>
              <a:t>: An additional ultrasonic or IR sensor measures waste accumulation depth. When a threshold is reached, visual or digital alerts notify users or managers for timely emptying.</a:t>
            </a:r>
          </a:p>
          <a:p>
            <a:endParaRPr lang="en-US" sz="1600" dirty="0"/>
          </a:p>
          <a:p>
            <a:r>
              <a:rPr lang="en-US" sz="1600" u="sng" dirty="0"/>
              <a:t>System Testing</a:t>
            </a:r>
            <a:r>
              <a:rPr lang="en-US" sz="1600" dirty="0"/>
              <a:t>: The complete system is rigorously tested for responsiveness, stability, and robustness, both in laboratory and real-use settings, refining the response timing and sensor thresholds for optimal operation.</a:t>
            </a:r>
          </a:p>
          <a:p>
            <a:pPr marL="299085" marR="5080" indent="-287020" algn="just">
              <a:lnSpc>
                <a:spcPct val="100000"/>
              </a:lnSpc>
              <a:spcBef>
                <a:spcPts val="100"/>
              </a:spcBef>
              <a:buFont typeface="Arial MT"/>
              <a:buChar char="•"/>
              <a:tabLst>
                <a:tab pos="299085" algn="l"/>
              </a:tabLst>
            </a:pPr>
            <a:endParaRPr sz="1800" dirty="0">
              <a:latin typeface="Calibri"/>
              <a:cs typeface="Calibri"/>
            </a:endParaRPr>
          </a:p>
        </p:txBody>
      </p:sp>
      <p:sp>
        <p:nvSpPr>
          <p:cNvPr id="5" name="object 5"/>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30FE47-EDD1-E6DD-70F7-596651333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82784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C2D586-7CAE-5B43-DDA5-89A26CD1B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67589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A88F5D-FF1A-71C3-CB74-2DAA927DDE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344399" cy="6858000"/>
          </a:xfrm>
          <a:prstGeom prst="rect">
            <a:avLst/>
          </a:prstGeom>
        </p:spPr>
      </p:pic>
    </p:spTree>
    <p:extLst>
      <p:ext uri="{BB962C8B-B14F-4D97-AF65-F5344CB8AC3E}">
        <p14:creationId xmlns:p14="http://schemas.microsoft.com/office/powerpoint/2010/main" val="737036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10" dirty="0">
                <a:latin typeface="Calibri"/>
                <a:cs typeface="Calibri"/>
              </a:rPr>
              <a:t>RESULTS</a:t>
            </a:r>
          </a:p>
        </p:txBody>
      </p:sp>
      <p:sp>
        <p:nvSpPr>
          <p:cNvPr id="3" name="object 3"/>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4" name="object 4"/>
          <p:cNvSpPr txBox="1"/>
          <p:nvPr/>
        </p:nvSpPr>
        <p:spPr>
          <a:xfrm>
            <a:off x="763270" y="1178009"/>
            <a:ext cx="10517505" cy="1919115"/>
          </a:xfrm>
          <a:prstGeom prst="rect">
            <a:avLst/>
          </a:prstGeom>
        </p:spPr>
        <p:txBody>
          <a:bodyPr vert="horz" wrap="square" lIns="0" tIns="13335" rIns="0" bIns="0" rtlCol="0">
            <a:spAutoFit/>
          </a:bodyPr>
          <a:lstStyle/>
          <a:p>
            <a:r>
              <a:rPr lang="en-US" sz="2000" dirty="0"/>
              <a:t>The dustbin achieves efficient, touchless lid operation in under two seconds of user approach, minimizing contact and enhancing user hygiene.</a:t>
            </a:r>
          </a:p>
          <a:p>
            <a:endParaRPr lang="en-US" sz="2000" dirty="0"/>
          </a:p>
          <a:p>
            <a:r>
              <a:rPr lang="en-US" sz="2000" dirty="0"/>
              <a:t>The fill-level monitoring system accurately detects near-full or full status, enabling timely notification and better waste management logistics</a:t>
            </a:r>
          </a:p>
          <a:p>
            <a:pPr marL="12700" marR="5080" algn="just">
              <a:lnSpc>
                <a:spcPct val="100000"/>
              </a:lnSpc>
              <a:spcBef>
                <a:spcPts val="105"/>
              </a:spcBef>
            </a:pPr>
            <a:endParaRPr sz="2300" dirty="0">
              <a:latin typeface="Calibri"/>
              <a:cs typeface="Calibri"/>
            </a:endParaRPr>
          </a:p>
        </p:txBody>
      </p:sp>
      <p:pic>
        <p:nvPicPr>
          <p:cNvPr id="5" name="object 5"/>
          <p:cNvPicPr/>
          <p:nvPr/>
        </p:nvPicPr>
        <p:blipFill>
          <a:blip r:embed="rId2" cstate="print">
            <a:extLst>
              <a:ext uri="{28A0092B-C50C-407E-A947-70E740481C1C}">
                <a14:useLocalDpi xmlns:a14="http://schemas.microsoft.com/office/drawing/2010/main" val="0"/>
              </a:ext>
            </a:extLst>
          </a:blip>
          <a:srcRect/>
          <a:stretch/>
        </p:blipFill>
        <p:spPr>
          <a:xfrm>
            <a:off x="8149717" y="3017024"/>
            <a:ext cx="3279013" cy="3279013"/>
          </a:xfrm>
          <a:prstGeom prst="rect">
            <a:avLst/>
          </a:prstGeom>
        </p:spPr>
      </p:pic>
      <p:pic>
        <p:nvPicPr>
          <p:cNvPr id="6" name="object 6"/>
          <p:cNvPicPr/>
          <p:nvPr/>
        </p:nvPicPr>
        <p:blipFill>
          <a:blip r:embed="rId3" cstate="print">
            <a:extLst>
              <a:ext uri="{28A0092B-C50C-407E-A947-70E740481C1C}">
                <a14:useLocalDpi xmlns:a14="http://schemas.microsoft.com/office/drawing/2010/main" val="0"/>
              </a:ext>
            </a:extLst>
          </a:blip>
          <a:srcRect/>
          <a:stretch/>
        </p:blipFill>
        <p:spPr>
          <a:xfrm>
            <a:off x="4793234" y="3621667"/>
            <a:ext cx="3055366" cy="2036910"/>
          </a:xfrm>
          <a:prstGeom prst="rect">
            <a:avLst/>
          </a:prstGeom>
        </p:spPr>
      </p:pic>
      <p:pic>
        <p:nvPicPr>
          <p:cNvPr id="7" name="object 7"/>
          <p:cNvPicPr/>
          <p:nvPr/>
        </p:nvPicPr>
        <p:blipFill>
          <a:blip r:embed="rId4" cstate="print">
            <a:extLst>
              <a:ext uri="{28A0092B-C50C-407E-A947-70E740481C1C}">
                <a14:useLocalDpi xmlns:a14="http://schemas.microsoft.com/office/drawing/2010/main" val="0"/>
              </a:ext>
            </a:extLst>
          </a:blip>
          <a:srcRect/>
          <a:stretch/>
        </p:blipFill>
        <p:spPr>
          <a:xfrm>
            <a:off x="533400" y="3320162"/>
            <a:ext cx="3896233" cy="2597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50" y="488949"/>
            <a:ext cx="4124325" cy="76200"/>
          </a:xfrm>
          <a:custGeom>
            <a:avLst/>
            <a:gdLst/>
            <a:ahLst/>
            <a:cxnLst/>
            <a:rect l="l" t="t" r="r" b="b"/>
            <a:pathLst>
              <a:path w="4124325" h="76200">
                <a:moveTo>
                  <a:pt x="4124325" y="38100"/>
                </a:moveTo>
                <a:lnTo>
                  <a:pt x="4121277" y="23241"/>
                </a:lnTo>
                <a:lnTo>
                  <a:pt x="4113149" y="11176"/>
                </a:lnTo>
                <a:lnTo>
                  <a:pt x="4101084" y="3048"/>
                </a:lnTo>
                <a:lnTo>
                  <a:pt x="4086225" y="0"/>
                </a:lnTo>
                <a:lnTo>
                  <a:pt x="4071366" y="3048"/>
                </a:lnTo>
                <a:lnTo>
                  <a:pt x="4059301" y="11176"/>
                </a:lnTo>
                <a:lnTo>
                  <a:pt x="4051173" y="23241"/>
                </a:lnTo>
                <a:lnTo>
                  <a:pt x="4049395" y="31750"/>
                </a:lnTo>
                <a:lnTo>
                  <a:pt x="4048760" y="34925"/>
                </a:lnTo>
                <a:lnTo>
                  <a:pt x="4048760" y="31750"/>
                </a:lnTo>
                <a:lnTo>
                  <a:pt x="0" y="31750"/>
                </a:lnTo>
                <a:lnTo>
                  <a:pt x="0" y="38100"/>
                </a:lnTo>
                <a:lnTo>
                  <a:pt x="0" y="44450"/>
                </a:lnTo>
                <a:lnTo>
                  <a:pt x="4048760" y="44450"/>
                </a:lnTo>
                <a:lnTo>
                  <a:pt x="4048760" y="41275"/>
                </a:lnTo>
                <a:lnTo>
                  <a:pt x="4049395" y="44450"/>
                </a:lnTo>
                <a:lnTo>
                  <a:pt x="4051173" y="52959"/>
                </a:lnTo>
                <a:lnTo>
                  <a:pt x="4059301" y="65024"/>
                </a:lnTo>
                <a:lnTo>
                  <a:pt x="4071366" y="73152"/>
                </a:lnTo>
                <a:lnTo>
                  <a:pt x="4086225" y="76200"/>
                </a:lnTo>
                <a:lnTo>
                  <a:pt x="4101084" y="73152"/>
                </a:lnTo>
                <a:lnTo>
                  <a:pt x="4113149" y="65024"/>
                </a:lnTo>
                <a:lnTo>
                  <a:pt x="4121277" y="52959"/>
                </a:lnTo>
                <a:lnTo>
                  <a:pt x="4123055" y="44450"/>
                </a:lnTo>
                <a:lnTo>
                  <a:pt x="4124325" y="38100"/>
                </a:lnTo>
                <a:close/>
              </a:path>
            </a:pathLst>
          </a:custGeom>
          <a:solidFill>
            <a:srgbClr val="095662"/>
          </a:solidFill>
        </p:spPr>
        <p:txBody>
          <a:bodyPr wrap="square" lIns="0" tIns="0" rIns="0" bIns="0" rtlCol="0"/>
          <a:lstStyle/>
          <a:p>
            <a:endParaRPr/>
          </a:p>
        </p:txBody>
      </p:sp>
      <p:sp>
        <p:nvSpPr>
          <p:cNvPr id="5" name="object 5"/>
          <p:cNvSpPr txBox="1">
            <a:spLocks noGrp="1"/>
          </p:cNvSpPr>
          <p:nvPr>
            <p:ph type="title"/>
          </p:nvPr>
        </p:nvSpPr>
        <p:spPr>
          <a:xfrm>
            <a:off x="3429000" y="228600"/>
            <a:ext cx="8596668" cy="1320800"/>
          </a:xfrm>
          <a:prstGeom prst="rect">
            <a:avLst/>
          </a:prstGeom>
        </p:spPr>
        <p:txBody>
          <a:bodyPr vert="horz" wrap="square" lIns="0" tIns="12700" rIns="0" bIns="0" rtlCol="0">
            <a:spAutoFit/>
          </a:bodyPr>
          <a:lstStyle/>
          <a:p>
            <a:pPr marL="833755">
              <a:lnSpc>
                <a:spcPct val="100000"/>
              </a:lnSpc>
              <a:spcBef>
                <a:spcPts val="100"/>
              </a:spcBef>
            </a:pPr>
            <a:r>
              <a:rPr spc="-10" dirty="0"/>
              <a:t>CONCLUSION</a:t>
            </a:r>
          </a:p>
        </p:txBody>
      </p:sp>
      <p:sp>
        <p:nvSpPr>
          <p:cNvPr id="3" name="object 3"/>
          <p:cNvSpPr txBox="1">
            <a:spLocks noGrp="1"/>
          </p:cNvSpPr>
          <p:nvPr>
            <p:ph idx="1"/>
          </p:nvPr>
        </p:nvSpPr>
        <p:spPr>
          <a:xfrm>
            <a:off x="381000" y="825498"/>
            <a:ext cx="10556240" cy="6092694"/>
          </a:xfrm>
          <a:prstGeom prst="rect">
            <a:avLst/>
          </a:prstGeom>
        </p:spPr>
        <p:txBody>
          <a:bodyPr vert="horz" wrap="square" lIns="0" tIns="46990" rIns="0" bIns="0" rtlCol="0">
            <a:spAutoFit/>
          </a:bodyPr>
          <a:lstStyle/>
          <a:p>
            <a:pPr marL="74295" algn="ctr">
              <a:lnSpc>
                <a:spcPct val="100000"/>
              </a:lnSpc>
              <a:spcBef>
                <a:spcPts val="2325"/>
              </a:spcBef>
            </a:pPr>
            <a:r>
              <a:rPr lang="en-US" sz="2000" dirty="0"/>
              <a:t>The Smart Automated Dustbin effectively demonstrates the combination of embedded sensors, microcontrollers, and actuation for hygienic, automated waste disposal. Its hands-free operation and real-time waste level monitoring solve key challenges of manual bins, delivering practical results in both small- and large-scale environments. The project proves that simple automation can significantly reduce health risks and optimize routine waste management tasks.</a:t>
            </a:r>
          </a:p>
          <a:p>
            <a:pPr marL="74295" algn="ctr">
              <a:lnSpc>
                <a:spcPct val="100000"/>
              </a:lnSpc>
              <a:spcBef>
                <a:spcPts val="2325"/>
              </a:spcBef>
            </a:pPr>
            <a:r>
              <a:rPr sz="2800" b="1" spc="-90" dirty="0">
                <a:latin typeface="Trebuchet MS"/>
                <a:cs typeface="Trebuchet MS"/>
              </a:rPr>
              <a:t>FUTURE</a:t>
            </a:r>
            <a:r>
              <a:rPr sz="2800" b="1" spc="-180" dirty="0">
                <a:latin typeface="Trebuchet MS"/>
                <a:cs typeface="Trebuchet MS"/>
              </a:rPr>
              <a:t> </a:t>
            </a:r>
            <a:r>
              <a:rPr sz="2800" b="1" spc="-20" dirty="0">
                <a:latin typeface="Trebuchet MS"/>
                <a:cs typeface="Trebuchet MS"/>
              </a:rPr>
              <a:t>SCOPE</a:t>
            </a:r>
            <a:endParaRPr sz="2800" dirty="0">
              <a:latin typeface="Trebuchet MS"/>
              <a:cs typeface="Trebuchet MS"/>
            </a:endParaRPr>
          </a:p>
          <a:p>
            <a:endParaRPr lang="en-IN" dirty="0"/>
          </a:p>
          <a:p>
            <a:r>
              <a:rPr lang="en-IN" u="sng" dirty="0"/>
              <a:t>Odor Control</a:t>
            </a:r>
            <a:r>
              <a:rPr lang="en-IN" dirty="0"/>
              <a:t>: Integration of </a:t>
            </a:r>
            <a:r>
              <a:rPr lang="en-IN" dirty="0" err="1"/>
              <a:t>odor</a:t>
            </a:r>
            <a:r>
              <a:rPr lang="en-IN" dirty="0"/>
              <a:t> management technologies to further improve user experience and reduce environmental impact.</a:t>
            </a:r>
          </a:p>
          <a:p>
            <a:endParaRPr lang="en-IN" dirty="0"/>
          </a:p>
          <a:p>
            <a:r>
              <a:rPr lang="en-IN" u="sng" dirty="0"/>
              <a:t>IoT Remote Monitoring</a:t>
            </a:r>
            <a:r>
              <a:rPr lang="en-IN" dirty="0"/>
              <a:t>: Adding wireless data capabilities (e.g., </a:t>
            </a:r>
            <a:r>
              <a:rPr lang="en-IN" dirty="0" err="1"/>
              <a:t>WiFi</a:t>
            </a:r>
            <a:r>
              <a:rPr lang="en-IN" dirty="0"/>
              <a:t> or GSM) for remote status reporting to waste collection services.</a:t>
            </a:r>
          </a:p>
          <a:p>
            <a:endParaRPr lang="en-IN" u="sng" dirty="0"/>
          </a:p>
          <a:p>
            <a:r>
              <a:rPr lang="en-IN" u="sng" dirty="0"/>
              <a:t>Basic Waste Segregation</a:t>
            </a:r>
            <a:r>
              <a:rPr lang="en-IN" dirty="0"/>
              <a:t>: Simple sorting mechanisms to separate recyclable from non-recyclable items.</a:t>
            </a:r>
          </a:p>
          <a:p>
            <a:pPr>
              <a:lnSpc>
                <a:spcPct val="100000"/>
              </a:lnSpc>
              <a:spcBef>
                <a:spcPts val="215"/>
              </a:spcBef>
            </a:pPr>
            <a:endParaRPr sz="2800" dirty="0">
              <a:latin typeface="Trebuchet MS"/>
              <a:cs typeface="Trebuchet MS"/>
            </a:endParaRPr>
          </a:p>
        </p:txBody>
      </p:sp>
      <p:sp>
        <p:nvSpPr>
          <p:cNvPr id="4" name="object 4"/>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ln w="12700">
            <a:solidFill>
              <a:srgbClr val="000000"/>
            </a:solidFill>
          </a:ln>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4083-1258-7587-A1CE-0115E05608C0}"/>
              </a:ext>
            </a:extLst>
          </p:cNvPr>
          <p:cNvSpPr>
            <a:spLocks noGrp="1"/>
          </p:cNvSpPr>
          <p:nvPr>
            <p:ph type="title"/>
          </p:nvPr>
        </p:nvSpPr>
        <p:spPr/>
        <p:txBody>
          <a:bodyPr/>
          <a:lstStyle/>
          <a:p>
            <a:r>
              <a:rPr lang="en-IN" dirty="0"/>
              <a:t>Thank You</a:t>
            </a:r>
          </a:p>
        </p:txBody>
      </p:sp>
      <p:sp>
        <p:nvSpPr>
          <p:cNvPr id="3" name="Text Placeholder 2">
            <a:extLst>
              <a:ext uri="{FF2B5EF4-FFF2-40B4-BE49-F238E27FC236}">
                <a16:creationId xmlns:a16="http://schemas.microsoft.com/office/drawing/2014/main" id="{B0FAA560-E884-E5DF-C806-5F8435DBCF5B}"/>
              </a:ext>
            </a:extLst>
          </p:cNvPr>
          <p:cNvSpPr>
            <a:spLocks noGrp="1"/>
          </p:cNvSpPr>
          <p:nvPr>
            <p:ph type="body" idx="1"/>
          </p:nvPr>
        </p:nvSpPr>
        <p:spPr/>
        <p:txBody>
          <a:bodyPr/>
          <a:lstStyle/>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8309502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117</TotalTime>
  <Words>1155</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MT</vt:lpstr>
      <vt:lpstr>Calibri</vt:lpstr>
      <vt:lpstr>Trebuchet MS</vt:lpstr>
      <vt:lpstr>Wingdings</vt:lpstr>
      <vt:lpstr>Wingdings 3</vt:lpstr>
      <vt:lpstr>Facet</vt:lpstr>
      <vt:lpstr>Smart Automated Dustbin </vt:lpstr>
      <vt:lpstr>ABSTRACT</vt:lpstr>
      <vt:lpstr>INDEX</vt:lpstr>
      <vt:lpstr>INTRODUCTION</vt:lpstr>
      <vt:lpstr>INTRODUCTION</vt:lpstr>
      <vt:lpstr>OBJECTIVES</vt:lpstr>
      <vt:lpstr>METHODOLOGY</vt:lpstr>
      <vt:lpstr>PowerPoint Presentation</vt:lpstr>
      <vt:lpstr>PowerPoint Presentation</vt:lpstr>
      <vt:lpstr>PowerPoint Presentation</vt:lpstr>
      <vt:lpstr>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aneesh senthil</dc:creator>
  <cp:lastModifiedBy>Goutham sharma Vinjamuri</cp:lastModifiedBy>
  <cp:revision>4</cp:revision>
  <dcterms:created xsi:type="dcterms:W3CDTF">2025-09-08T16:21:31Z</dcterms:created>
  <dcterms:modified xsi:type="dcterms:W3CDTF">2026-06-16T06:30:35Z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2024-11-08T00:00:00Z</vt:filetime>
  </property>
  <property fmtid="{D5CDD505-2E9C-101B-9397-08002B2CF9AE}" pid="3" name="Creator">
    <vt:lpwstr>Microsoft® PowerPoint® 2021</vt:lpwstr>
  </property>
  <property fmtid="{D5CDD505-2E9C-101B-9397-08002B2CF9AE}" pid="4" name="LastSaved">
    <vt:filetime>2025-09-08T00:00:00Z</vt:filetime>
  </property>
  <property fmtid="{D5CDD505-2E9C-101B-9397-08002B2CF9AE}" pid="5" name="Producer">
    <vt:lpwstr>Microsoft® PowerPoint® 2021</vt:lpwstr>
  </property>
</Properties>
</file>